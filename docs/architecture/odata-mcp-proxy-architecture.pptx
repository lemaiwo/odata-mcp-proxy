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on SAP BTP Cloud Foundry (mta.yaml binds Destination, Connectivity and XSUAA). Steps are explained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MCP request: The MCP client calls /mcp on the Cloud Foundry app over Streamable HTTP, with an XSUAA bearer token.
2. Single sign-on: /oauth/* proxies the login to XSUAA, which uses SAP Cloud Identity Services federated with the corporate IdP. Role collections gate read, write and admin operations.
3. Destination lookup: The SAP Cloud SDK resolves the named destination. With user-based auth types the user token is exchanged for a backend token.
4. Cloud APIs: Cloud Integration OData API and BTP Core Services REST APIs are called directly with the resolved credentials.
5. On-premise systems: Calls to S/4HANA or ABAP go through the Connectivity service and Cloud Connector, with principal propagation of the business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Self-hosted deployment: any Node.js host, SSO via any OIDC provider (AUTH_PROVIDER=oidc), per-destination {PREFIX}_AUTH_TYPE for user propagation. Steps are explained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MCP request: Clients reach the Node.js server through a reverse proxy that terminates TLS. /mcp requires a bearer token.
2. Single sign-on with any OIDC IdP: /oauth/* proxies the login to Entra ID, Okta, Keycloak, SAP IAS, … Tokens are verified against the IdP's JWKS.
3. SAML bearer to SAP: The proxy signs a SAML assertion for the user (NameID from a token claim) and exchanges it at SAP's OAuth server.
4. OData as the business user: The S/4HANA / ABAP call carries the user's SAP token, so SAP authorizations apply per user.
5. Token for BTP services: BTP targets get a token from XSUAA: client credentials (technical user), jwt-bearer or token exchange.
6. Cloud APIs over the internet: Cloud Integration and BTP Core Services APIs are called directly; no BTP runtime or Cloud Connector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OData MCP Proxy — deployed on SAP BTP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Foundry app with XSUAA login, Destination Service and Cloud Connector for on-premise systems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067288"/>
            <a:ext cx="1911096" cy="1758208"/>
          </a:xfrm>
          <a:prstGeom prst="roundRect">
            <a:avLst>
              <a:gd name="adj" fmla="val 5201"/>
            </a:avLst>
          </a:prstGeom>
          <a:solidFill>
            <a:srgbClr val="F5F6F7"/>
          </a:solidFill>
          <a:ln w="15875">
            <a:solidFill>
              <a:srgbClr val="475E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0950" y="1143732"/>
            <a:ext cx="1712342" cy="198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clients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1528" y="1449507"/>
            <a:ext cx="1605321" cy="1146658"/>
          </a:xfrm>
          <a:prstGeom prst="roundRect">
            <a:avLst>
              <a:gd name="adj" fmla="val 4785"/>
            </a:avLst>
          </a:prstGeom>
          <a:solidFill>
            <a:srgbClr val="FFFFFF"/>
          </a:solidFill>
          <a:ln w="9525">
            <a:solidFill>
              <a:srgbClr val="475E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3169" y="1525951"/>
            <a:ext cx="1192524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client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8549" y="1785860"/>
            <a:ext cx="1437144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Claude, Copilot Studio,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Inspector, 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Streamable HTTP + OAuth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4354373"/>
            <a:ext cx="1911096" cy="1452433"/>
          </a:xfrm>
          <a:prstGeom prst="roundRect">
            <a:avLst>
              <a:gd name="adj" fmla="val 6296"/>
            </a:avLst>
          </a:prstGeom>
          <a:solidFill>
            <a:srgbClr val="F5F6F7"/>
          </a:solidFill>
          <a:ln w="15875">
            <a:solidFill>
              <a:srgbClr val="475E7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0950" y="4430817"/>
            <a:ext cx="1712342" cy="198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identity provider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01528" y="4736592"/>
            <a:ext cx="1605321" cy="840882"/>
          </a:xfrm>
          <a:prstGeom prst="roundRect">
            <a:avLst>
              <a:gd name="adj" fmla="val 6525"/>
            </a:avLst>
          </a:prstGeom>
          <a:solidFill>
            <a:srgbClr val="FFFFFF"/>
          </a:solidFill>
          <a:ln w="9525">
            <a:solidFill>
              <a:srgbClr val="475E7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3169" y="4813036"/>
            <a:ext cx="1192524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IdP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08549" y="5072945"/>
            <a:ext cx="1437144" cy="32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ID, Okta, ADFS, 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via SAML / OIDC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65511" y="914400"/>
            <a:ext cx="6115507" cy="5351069"/>
          </a:xfrm>
          <a:prstGeom prst="roundRect">
            <a:avLst>
              <a:gd name="adj" fmla="val 1709"/>
            </a:avLst>
          </a:prstGeom>
          <a:solidFill>
            <a:srgbClr val="EBF8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87822" y="1013777"/>
            <a:ext cx="305775" cy="152888"/>
          </a:xfrm>
          <a:prstGeom prst="rect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3270041" y="990844"/>
            <a:ext cx="5534534" cy="198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BTP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956621" y="1220175"/>
            <a:ext cx="5771510" cy="2981310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3078931" y="1296619"/>
            <a:ext cx="5572756" cy="198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Subaccount · Cloud Foundry runtime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952" y="1487729"/>
            <a:ext cx="1987540" cy="1605321"/>
          </a:xfrm>
          <a:prstGeom prst="roundRect">
            <a:avLst>
              <a:gd name="adj" fmla="val 3418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37594" y="1564173"/>
            <a:ext cx="1574743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odata-mcp-proxy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92974" y="1824082"/>
            <a:ext cx="1819363" cy="733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application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/mcp  Streamable HTTP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/oauth/*  OAuth proxy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registry → ODataClient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Cloud SDK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185952" y="3398825"/>
            <a:ext cx="1987540" cy="649773"/>
          </a:xfrm>
          <a:prstGeom prst="roundRect">
            <a:avLst>
              <a:gd name="adj" fmla="val 8444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37594" y="3475269"/>
            <a:ext cx="1574743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XSUAA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292974" y="3735178"/>
            <a:ext cx="1819363" cy="32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&amp; Trust Mgmt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Viewer / Editor / Admin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823265" y="1487729"/>
            <a:ext cx="2751978" cy="611551"/>
          </a:xfrm>
          <a:prstGeom prst="roundRect">
            <a:avLst>
              <a:gd name="adj" fmla="val 8971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74907" y="1564173"/>
            <a:ext cx="2339182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Destination service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930286" y="1824082"/>
            <a:ext cx="2583802" cy="18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URLs, credentials, token exchange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823265" y="2252167"/>
            <a:ext cx="2751978" cy="611551"/>
          </a:xfrm>
          <a:prstGeom prst="roundRect">
            <a:avLst>
              <a:gd name="adj" fmla="val 8971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74907" y="2328611"/>
            <a:ext cx="2339182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Connectivity service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930286" y="2588520"/>
            <a:ext cx="2583802" cy="18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Proxy to on-premise via Cloud Connector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185952" y="4698370"/>
            <a:ext cx="1987540" cy="840882"/>
          </a:xfrm>
          <a:prstGeom prst="roundRect">
            <a:avLst>
              <a:gd name="adj" fmla="val 6525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37594" y="4774814"/>
            <a:ext cx="1574743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Cloud Identity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292974" y="5034723"/>
            <a:ext cx="1819363" cy="32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Authentication (IAS)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Federates corporate IdP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593933" y="4392595"/>
            <a:ext cx="3134197" cy="1719986"/>
          </a:xfrm>
          <a:prstGeom prst="roundRect">
            <a:avLst>
              <a:gd name="adj" fmla="val 5316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716244" y="4469039"/>
            <a:ext cx="2935443" cy="198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subaccount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785043" y="4698370"/>
            <a:ext cx="2751978" cy="573329"/>
          </a:xfrm>
          <a:prstGeom prst="roundRect">
            <a:avLst>
              <a:gd name="adj" fmla="val 9569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36685" y="4774814"/>
            <a:ext cx="2339182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Integration Suite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892064" y="5034723"/>
            <a:ext cx="2583802" cy="18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Integration OData API (/api/v1)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785043" y="5386365"/>
            <a:ext cx="2751978" cy="573329"/>
          </a:xfrm>
          <a:prstGeom prst="roundRect">
            <a:avLst>
              <a:gd name="adj" fmla="val 9569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36685" y="5462808"/>
            <a:ext cx="2339182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BTP Core Services APIs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892064" y="5722718"/>
            <a:ext cx="2583802" cy="18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Accounts, entitlements, … (REST)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86794" y="1946392"/>
            <a:ext cx="2369759" cy="2637312"/>
          </a:xfrm>
          <a:prstGeom prst="roundRect">
            <a:avLst>
              <a:gd name="adj" fmla="val 3859"/>
            </a:avLst>
          </a:prstGeom>
          <a:solidFill>
            <a:srgbClr val="F5F6F7"/>
          </a:solidFill>
          <a:ln w="15875">
            <a:solidFill>
              <a:srgbClr val="475E7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309104" y="2022836"/>
            <a:ext cx="2171005" cy="198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On-premise network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9377904" y="2252167"/>
            <a:ext cx="1987540" cy="611551"/>
          </a:xfrm>
          <a:prstGeom prst="roundRect">
            <a:avLst>
              <a:gd name="adj" fmla="val 8971"/>
            </a:avLst>
          </a:prstGeom>
          <a:solidFill>
            <a:srgbClr val="FFFFFF"/>
          </a:solidFill>
          <a:ln w="9525">
            <a:solidFill>
              <a:srgbClr val="475E7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29545" y="2328611"/>
            <a:ext cx="1574743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Cloud Connector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9484925" y="2588520"/>
            <a:ext cx="1819363" cy="18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tunnel, principal propagation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377904" y="3475269"/>
            <a:ext cx="1987540" cy="917326"/>
          </a:xfrm>
          <a:prstGeom prst="roundRect">
            <a:avLst>
              <a:gd name="adj" fmla="val 5981"/>
            </a:avLst>
          </a:prstGeom>
          <a:solidFill>
            <a:srgbClr val="FFFFFF"/>
          </a:solidFill>
          <a:ln w="9525">
            <a:solidFill>
              <a:srgbClr val="475E7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729545" y="3551712"/>
            <a:ext cx="1574743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S/4HANA / ABAP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9484925" y="3811622"/>
            <a:ext cx="1819363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OData services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as the propagated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user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2306848" y="2022836"/>
            <a:ext cx="879104" cy="0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669957" y="1942570"/>
            <a:ext cx="160532" cy="160532"/>
          </a:xfrm>
          <a:prstGeom prst="ellipse">
            <a:avLst/>
          </a:prstGeom>
          <a:solidFill>
            <a:srgbClr val="1D2D3E"/>
          </a:solidFill>
          <a:ln w="6350">
            <a:solidFill>
              <a:srgbClr val="1D2D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179722" y="3093049"/>
            <a:ext cx="0" cy="305775"/>
          </a:xfrm>
          <a:prstGeom prst="line">
            <a:avLst/>
          </a:prstGeom>
          <a:noFill/>
          <a:ln w="15875">
            <a:solidFill>
              <a:srgbClr val="5D36FF"/>
            </a:solidFill>
            <a:prstDash val="dash"/>
            <a:headEnd type="triangle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4179722" y="4048597"/>
            <a:ext cx="0" cy="649773"/>
          </a:xfrm>
          <a:prstGeom prst="line">
            <a:avLst/>
          </a:prstGeom>
          <a:noFill/>
          <a:ln w="15875">
            <a:solidFill>
              <a:srgbClr val="5D36FF"/>
            </a:solidFill>
            <a:prstDash val="dash"/>
            <a:headEnd type="triangle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2306848" y="5118811"/>
            <a:ext cx="879104" cy="0"/>
          </a:xfrm>
          <a:prstGeom prst="line">
            <a:avLst/>
          </a:prstGeom>
          <a:noFill/>
          <a:ln w="15875">
            <a:solidFill>
              <a:srgbClr val="5D36FF"/>
            </a:solidFill>
            <a:prstDash val="dash"/>
            <a:headEnd type="triangle"/>
            <a:tailEnd type="triangle"/>
          </a:ln>
        </p:spPr>
      </p:sp>
      <p:sp>
        <p:nvSpPr>
          <p:cNvPr id="55" name="Text 53"/>
          <p:cNvSpPr/>
          <p:nvPr/>
        </p:nvSpPr>
        <p:spPr>
          <a:xfrm>
            <a:off x="4099456" y="4312329"/>
            <a:ext cx="160532" cy="160532"/>
          </a:xfrm>
          <a:prstGeom prst="ellipse">
            <a:avLst/>
          </a:prstGeom>
          <a:solidFill>
            <a:srgbClr val="1D2D3E"/>
          </a:solidFill>
          <a:ln w="6350">
            <a:solidFill>
              <a:srgbClr val="1D2D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4256166" y="3115983"/>
            <a:ext cx="1681764" cy="11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login (proxied)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4256166" y="3230648"/>
            <a:ext cx="1681764" cy="11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validation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2520891" y="4927702"/>
            <a:ext cx="458663" cy="11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173492" y="1793504"/>
            <a:ext cx="649773" cy="0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  <a:tailEnd type="triangle"/>
          </a:ln>
        </p:spPr>
      </p:sp>
      <p:sp>
        <p:nvSpPr>
          <p:cNvPr id="60" name="Text 58"/>
          <p:cNvSpPr/>
          <p:nvPr/>
        </p:nvSpPr>
        <p:spPr>
          <a:xfrm>
            <a:off x="5421935" y="1713238"/>
            <a:ext cx="160532" cy="160532"/>
          </a:xfrm>
          <a:prstGeom prst="ellipse">
            <a:avLst/>
          </a:prstGeom>
          <a:solidFill>
            <a:srgbClr val="1D2D3E"/>
          </a:solidFill>
          <a:ln w="6350">
            <a:solidFill>
              <a:srgbClr val="1D2D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173492" y="2940162"/>
            <a:ext cx="229332" cy="0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402824" y="2940162"/>
            <a:ext cx="0" cy="2729045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02824" y="5669207"/>
            <a:ext cx="382219" cy="0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5402824" y="4981212"/>
            <a:ext cx="382219" cy="0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  <a:tailEnd type="triangle"/>
          </a:ln>
        </p:spPr>
      </p:sp>
      <p:sp>
        <p:nvSpPr>
          <p:cNvPr id="65" name="Text 63"/>
          <p:cNvSpPr/>
          <p:nvPr/>
        </p:nvSpPr>
        <p:spPr>
          <a:xfrm>
            <a:off x="5322558" y="3739000"/>
            <a:ext cx="160532" cy="160532"/>
          </a:xfrm>
          <a:prstGeom prst="ellipse">
            <a:avLst/>
          </a:prstGeom>
          <a:solidFill>
            <a:srgbClr val="1D2D3E"/>
          </a:solidFill>
          <a:ln w="6350">
            <a:solidFill>
              <a:srgbClr val="1D2D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173492" y="2557943"/>
            <a:ext cx="649773" cy="0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8575243" y="2557943"/>
            <a:ext cx="802660" cy="0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  <a:headEnd type="triangle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10371673" y="2863718"/>
            <a:ext cx="0" cy="611551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  <a:tailEnd type="triangle"/>
          </a:ln>
        </p:spPr>
      </p:sp>
      <p:sp>
        <p:nvSpPr>
          <p:cNvPr id="69" name="Text 67"/>
          <p:cNvSpPr/>
          <p:nvPr/>
        </p:nvSpPr>
        <p:spPr>
          <a:xfrm>
            <a:off x="8892485" y="2477677"/>
            <a:ext cx="160532" cy="160532"/>
          </a:xfrm>
          <a:prstGeom prst="ellipse">
            <a:avLst/>
          </a:prstGeom>
          <a:solidFill>
            <a:srgbClr val="1D2D3E"/>
          </a:solidFill>
          <a:ln w="6350">
            <a:solidFill>
              <a:srgbClr val="1D2D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10448117" y="3108338"/>
            <a:ext cx="1681764" cy="11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/ HTTP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548640" y="6446520"/>
            <a:ext cx="292608" cy="155448"/>
          </a:xfrm>
          <a:prstGeom prst="roundRect">
            <a:avLst>
              <a:gd name="adj" fmla="val 23529"/>
            </a:avLst>
          </a:prstGeom>
          <a:solidFill>
            <a:srgbClr val="EBF8FF"/>
          </a:solidFill>
          <a:ln w="12700">
            <a:solidFill>
              <a:srgbClr val="0070F2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932688" y="641908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BTP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1649578" y="6446520"/>
            <a:ext cx="292608" cy="155448"/>
          </a:xfrm>
          <a:prstGeom prst="roundRect">
            <a:avLst>
              <a:gd name="adj" fmla="val 23529"/>
            </a:avLst>
          </a:prstGeom>
          <a:solidFill>
            <a:srgbClr val="F5F6F7"/>
          </a:solidFill>
          <a:ln w="12700">
            <a:solidFill>
              <a:srgbClr val="475E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2033626" y="641908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Non-SAP / customer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3374136" y="6524244"/>
            <a:ext cx="292608" cy="0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  <a:tailEnd type="triangle"/>
          </a:ln>
        </p:spPr>
      </p:sp>
      <p:sp>
        <p:nvSpPr>
          <p:cNvPr id="76" name="Text 74"/>
          <p:cNvSpPr txBox="1"/>
          <p:nvPr/>
        </p:nvSpPr>
        <p:spPr>
          <a:xfrm>
            <a:off x="3758184" y="641908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call / data flow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5212080" y="6524244"/>
            <a:ext cx="292608" cy="0"/>
          </a:xfrm>
          <a:prstGeom prst="line">
            <a:avLst/>
          </a:prstGeom>
          <a:noFill/>
          <a:ln w="15875">
            <a:solidFill>
              <a:srgbClr val="5D36FF"/>
            </a:solidFill>
            <a:prstDash val="dash"/>
            <a:tailEnd type="triangle"/>
          </a:ln>
        </p:spPr>
      </p:sp>
      <p:sp>
        <p:nvSpPr>
          <p:cNvPr id="78" name="Text 76"/>
          <p:cNvSpPr txBox="1"/>
          <p:nvPr/>
        </p:nvSpPr>
        <p:spPr>
          <a:xfrm>
            <a:off x="5596128" y="641908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/ token flow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7510882" y="6432804"/>
            <a:ext cx="182880" cy="182880"/>
          </a:xfrm>
          <a:prstGeom prst="ellipse">
            <a:avLst/>
          </a:prstGeom>
          <a:solidFill>
            <a:srgbClr val="1D2D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7830922" y="641908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step (see next slide)</a:t>
            </a:r>
            <a:endParaRPr lang="en-US" sz="900" dirty="0"/>
          </a:p>
        </p:txBody>
      </p:sp>
      <p:pic>
        <p:nvPicPr>
          <p:cNvPr id="82" name="Image 0" descr="MCP clien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260" y="1533595"/>
            <a:ext cx="198754" cy="198754"/>
          </a:xfrm>
          <a:prstGeom prst="rect">
            <a:avLst/>
          </a:prstGeom>
        </p:spPr>
      </p:pic>
      <p:pic>
        <p:nvPicPr>
          <p:cNvPr id="83" name="Image 1" descr="Corporate IdP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60" y="4820680"/>
            <a:ext cx="198754" cy="198754"/>
          </a:xfrm>
          <a:prstGeom prst="rect">
            <a:avLst/>
          </a:prstGeom>
        </p:spPr>
      </p:pic>
      <p:pic>
        <p:nvPicPr>
          <p:cNvPr id="84" name="Image 2" descr="odata-mcp-proxy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7685" y="1571817"/>
            <a:ext cx="198754" cy="198754"/>
          </a:xfrm>
          <a:prstGeom prst="rect">
            <a:avLst/>
          </a:prstGeom>
        </p:spPr>
      </p:pic>
      <p:pic>
        <p:nvPicPr>
          <p:cNvPr id="85" name="Image 3" descr="Destination servic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998" y="1571817"/>
            <a:ext cx="198754" cy="198754"/>
          </a:xfrm>
          <a:prstGeom prst="rect">
            <a:avLst/>
          </a:prstGeom>
        </p:spPr>
      </p:pic>
      <p:pic>
        <p:nvPicPr>
          <p:cNvPr id="86" name="Image 4" descr="XSUAA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7685" y="3482913"/>
            <a:ext cx="198754" cy="198754"/>
          </a:xfrm>
          <a:prstGeom prst="rect">
            <a:avLst/>
          </a:prstGeom>
        </p:spPr>
      </p:pic>
      <p:pic>
        <p:nvPicPr>
          <p:cNvPr id="87" name="Image 5" descr="Connectivity servic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4998" y="2336255"/>
            <a:ext cx="198754" cy="198754"/>
          </a:xfrm>
          <a:prstGeom prst="rect">
            <a:avLst/>
          </a:prstGeom>
        </p:spPr>
      </p:pic>
      <p:pic>
        <p:nvPicPr>
          <p:cNvPr id="88" name="Image 6" descr="SAP Cloud Identity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7685" y="4782458"/>
            <a:ext cx="198754" cy="198754"/>
          </a:xfrm>
          <a:prstGeom prst="rect">
            <a:avLst/>
          </a:prstGeom>
        </p:spPr>
      </p:pic>
      <p:pic>
        <p:nvPicPr>
          <p:cNvPr id="89" name="Image 7" descr="SAP Integration Suit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76776" y="4782458"/>
            <a:ext cx="198754" cy="198754"/>
          </a:xfrm>
          <a:prstGeom prst="rect">
            <a:avLst/>
          </a:prstGeom>
        </p:spPr>
      </p:pic>
      <p:pic>
        <p:nvPicPr>
          <p:cNvPr id="90" name="Image 8" descr="SAP BTP Core Services APIs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76776" y="5470453"/>
            <a:ext cx="198754" cy="198754"/>
          </a:xfrm>
          <a:prstGeom prst="rect">
            <a:avLst/>
          </a:prstGeom>
        </p:spPr>
      </p:pic>
      <p:pic>
        <p:nvPicPr>
          <p:cNvPr id="91" name="Image 9" descr="SAP S/4HANA / ABAP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69636" y="3559357"/>
            <a:ext cx="198754" cy="198754"/>
          </a:xfrm>
          <a:prstGeom prst="rect">
            <a:avLst/>
          </a:prstGeom>
        </p:spPr>
      </p:pic>
      <p:pic>
        <p:nvPicPr>
          <p:cNvPr id="92" name="Image 10" descr="SAP Cloud Connector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69636" y="2336255"/>
            <a:ext cx="198754" cy="1987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SAP BTP — how a request flows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steps match the diagram on the previous slide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394960" cy="109728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9525">
            <a:solidFill>
              <a:srgbClr val="E1E6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08760"/>
            <a:ext cx="420624" cy="420624"/>
          </a:xfrm>
          <a:prstGeom prst="ellipse">
            <a:avLst/>
          </a:prstGeom>
          <a:solidFill>
            <a:srgbClr val="1D2D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990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request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0992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MCP client calls /mcp on the Cloud Foundry app over Streamable HTTP, with an XSUAA bearer token.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32888"/>
            <a:ext cx="5394960" cy="109728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9525">
            <a:solidFill>
              <a:srgbClr val="E1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07208"/>
            <a:ext cx="420624" cy="420624"/>
          </a:xfrm>
          <a:prstGeom prst="ellipse">
            <a:avLst/>
          </a:prstGeom>
          <a:solidFill>
            <a:srgbClr val="1D2D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6974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sign-on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00837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/oauth/* proxies the login to XSUAA, which uses SAP Cloud Identity Services federated with the corporate IdP. Role collections gate read, write and admin operations.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831336"/>
            <a:ext cx="5394960" cy="109728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9525">
            <a:solidFill>
              <a:srgbClr val="E1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105656"/>
            <a:ext cx="420624" cy="420624"/>
          </a:xfrm>
          <a:prstGeom prst="ellipse">
            <a:avLst/>
          </a:prstGeom>
          <a:solidFill>
            <a:srgbClr val="1D2D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9959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Destination lookup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306824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SAP Cloud SDK resolves the named destination. With user-based auth types the user token is exchanged for a backend token.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45352" y="1234440"/>
            <a:ext cx="5394960" cy="109728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9525">
            <a:solidFill>
              <a:srgbClr val="E1E6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73952" y="1508760"/>
            <a:ext cx="420624" cy="420624"/>
          </a:xfrm>
          <a:prstGeom prst="ellipse">
            <a:avLst/>
          </a:prstGeom>
          <a:solidFill>
            <a:srgbClr val="1D2D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114032" y="13990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APIs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170992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Integration OData API and BTP Core Services REST APIs are called directly with the resolved credentials.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45352" y="2532888"/>
            <a:ext cx="5394960" cy="109728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9525">
            <a:solidFill>
              <a:srgbClr val="E1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73952" y="2807208"/>
            <a:ext cx="420624" cy="420624"/>
          </a:xfrm>
          <a:prstGeom prst="ellipse">
            <a:avLst/>
          </a:prstGeom>
          <a:solidFill>
            <a:srgbClr val="1D2D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14032" y="26974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On-premise systems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300837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to S/4HANA or ABAP go through the Connectivity service and Cloud Connector, with principal propagation of the business user.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175504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EBF8FF"/>
          </a:solidFill>
          <a:ln w="9525">
            <a:solidFill>
              <a:srgbClr val="0070F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175504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Deployment:  </a:t>
            </a:r>
            <a:pPr indent="0" marL="0">
              <a:buNone/>
            </a:pPr>
            <a:r>
              <a:rPr lang="en-US" sz="1100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build:btp &amp;&amp; npm run deploy:btp — the MTA binds Destination, Connectivity and XSUAA (xs-security.json).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OData MCP Proxy — self-hosted (on-premise)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server in the customer network, SSO via any OpenID Connect provider, user propagated to SAP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067288"/>
            <a:ext cx="1911096" cy="1758208"/>
          </a:xfrm>
          <a:prstGeom prst="roundRect">
            <a:avLst>
              <a:gd name="adj" fmla="val 5201"/>
            </a:avLst>
          </a:prstGeom>
          <a:solidFill>
            <a:srgbClr val="F5F6F7"/>
          </a:solidFill>
          <a:ln w="15875">
            <a:solidFill>
              <a:srgbClr val="475E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0950" y="1143732"/>
            <a:ext cx="1712342" cy="198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clients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1528" y="1449507"/>
            <a:ext cx="1605321" cy="1146658"/>
          </a:xfrm>
          <a:prstGeom prst="roundRect">
            <a:avLst>
              <a:gd name="adj" fmla="val 4785"/>
            </a:avLst>
          </a:prstGeom>
          <a:solidFill>
            <a:srgbClr val="FFFFFF"/>
          </a:solidFill>
          <a:ln w="9525">
            <a:solidFill>
              <a:srgbClr val="475E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3169" y="1525951"/>
            <a:ext cx="1192524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client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8549" y="1785860"/>
            <a:ext cx="1437144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Claude, Copilot Studio,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Inspector, 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Streamable HTTP + OAuth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4354373"/>
            <a:ext cx="1911096" cy="1452433"/>
          </a:xfrm>
          <a:prstGeom prst="roundRect">
            <a:avLst>
              <a:gd name="adj" fmla="val 6296"/>
            </a:avLst>
          </a:prstGeom>
          <a:solidFill>
            <a:srgbClr val="F5F6F7"/>
          </a:solidFill>
          <a:ln w="15875">
            <a:solidFill>
              <a:srgbClr val="475E7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0950" y="4430817"/>
            <a:ext cx="1712342" cy="198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OpenID Connect provider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01528" y="4736592"/>
            <a:ext cx="1605321" cy="840882"/>
          </a:xfrm>
          <a:prstGeom prst="roundRect">
            <a:avLst>
              <a:gd name="adj" fmla="val 6525"/>
            </a:avLst>
          </a:prstGeom>
          <a:solidFill>
            <a:srgbClr val="FFFFFF"/>
          </a:solidFill>
          <a:ln w="9525">
            <a:solidFill>
              <a:srgbClr val="475E7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3169" y="4813036"/>
            <a:ext cx="1192524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OIDC IdP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08549" y="5072945"/>
            <a:ext cx="1437144" cy="32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ID, Okta, Keycloak,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IAS, Auth0, …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65511" y="914400"/>
            <a:ext cx="6115507" cy="4968850"/>
          </a:xfrm>
          <a:prstGeom prst="roundRect">
            <a:avLst>
              <a:gd name="adj" fmla="val 1840"/>
            </a:avLst>
          </a:prstGeom>
          <a:solidFill>
            <a:srgbClr val="F5F6F7"/>
          </a:solidFill>
          <a:ln w="15875">
            <a:solidFill>
              <a:srgbClr val="475E7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87822" y="990844"/>
            <a:ext cx="5916753" cy="198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data center / private network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994843" y="1602395"/>
            <a:ext cx="1528877" cy="840882"/>
          </a:xfrm>
          <a:prstGeom prst="roundRect">
            <a:avLst>
              <a:gd name="adj" fmla="val 6525"/>
            </a:avLst>
          </a:prstGeom>
          <a:solidFill>
            <a:srgbClr val="FFFFFF"/>
          </a:solidFill>
          <a:ln w="9525">
            <a:solidFill>
              <a:srgbClr val="475E7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46485" y="1678838"/>
            <a:ext cx="1116080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proxy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101864" y="1938747"/>
            <a:ext cx="1360700" cy="32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/ TLS termination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nginx, IIS, Caddy, …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905939" y="1487729"/>
            <a:ext cx="1987540" cy="1719986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525">
            <a:solidFill>
              <a:srgbClr val="475E7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57581" y="1564173"/>
            <a:ext cx="1574743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odata-mcp-proxy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012960" y="1824082"/>
            <a:ext cx="1819363" cy="87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server (systemd, Docker)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/mcp  Streamable HTTP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/oauth/*  OAuth proxy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JWT validation (JWKS)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Per-user token cache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SAML assertion signing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905939" y="3628156"/>
            <a:ext cx="1528877" cy="687995"/>
          </a:xfrm>
          <a:prstGeom prst="roundRect">
            <a:avLst>
              <a:gd name="adj" fmla="val 7974"/>
            </a:avLst>
          </a:prstGeom>
          <a:solidFill>
            <a:srgbClr val="FFFFFF"/>
          </a:solidFill>
          <a:ln w="9525">
            <a:solidFill>
              <a:srgbClr val="475E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7581" y="3704600"/>
            <a:ext cx="1116080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store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012960" y="3964509"/>
            <a:ext cx="1360700" cy="32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SAML signing key,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secrets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084588" y="3704600"/>
            <a:ext cx="1681764" cy="1223101"/>
          </a:xfrm>
          <a:prstGeom prst="roundRect">
            <a:avLst>
              <a:gd name="adj" fmla="val 4486"/>
            </a:avLst>
          </a:prstGeom>
          <a:solidFill>
            <a:srgbClr val="FFFFFF"/>
          </a:solidFill>
          <a:ln w="9525">
            <a:solidFill>
              <a:srgbClr val="475E7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36230" y="3781044"/>
            <a:ext cx="1268968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S/4HANA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191610" y="4040953"/>
            <a:ext cx="1513588" cy="596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SAP ABAP system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server (SOAUTH2)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SAML2 trusted provider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as the business user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110350" y="1067288"/>
            <a:ext cx="2522647" cy="3363529"/>
          </a:xfrm>
          <a:prstGeom prst="roundRect">
            <a:avLst>
              <a:gd name="adj" fmla="val 3625"/>
            </a:avLst>
          </a:prstGeom>
          <a:solidFill>
            <a:srgbClr val="EBF8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32660" y="1166665"/>
            <a:ext cx="305775" cy="152888"/>
          </a:xfrm>
          <a:prstGeom prst="rect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9614879" y="1143732"/>
            <a:ext cx="1941674" cy="198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BTP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247949" y="1373063"/>
            <a:ext cx="2247449" cy="2904866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9370259" y="1449507"/>
            <a:ext cx="2048695" cy="198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subaccount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377904" y="1694127"/>
            <a:ext cx="2002829" cy="573329"/>
          </a:xfrm>
          <a:prstGeom prst="roundRect">
            <a:avLst>
              <a:gd name="adj" fmla="val 9569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729545" y="1770571"/>
            <a:ext cx="1590032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XSUAA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484925" y="2030480"/>
            <a:ext cx="1834652" cy="18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&amp; Trust Mgmt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377904" y="2443277"/>
            <a:ext cx="2002829" cy="573329"/>
          </a:xfrm>
          <a:prstGeom prst="roundRect">
            <a:avLst>
              <a:gd name="adj" fmla="val 9569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29545" y="2519721"/>
            <a:ext cx="1590032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Integration Suite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9484925" y="2779630"/>
            <a:ext cx="1834652" cy="18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Integration OData API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9377904" y="3268870"/>
            <a:ext cx="2002829" cy="573329"/>
          </a:xfrm>
          <a:prstGeom prst="roundRect">
            <a:avLst>
              <a:gd name="adj" fmla="val 9569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729545" y="3345314"/>
            <a:ext cx="1590032" cy="21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 Core Services APIs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9484925" y="3605223"/>
            <a:ext cx="1834652" cy="18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Accounts, entitlements, …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306848" y="2022836"/>
            <a:ext cx="687995" cy="0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4523720" y="2022836"/>
            <a:ext cx="382219" cy="0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2570580" y="1942570"/>
            <a:ext cx="160532" cy="160532"/>
          </a:xfrm>
          <a:prstGeom prst="ellipse">
            <a:avLst/>
          </a:prstGeom>
          <a:solidFill>
            <a:srgbClr val="1D2D3E"/>
          </a:solidFill>
          <a:ln w="6350">
            <a:solidFill>
              <a:srgbClr val="1D2D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 flipH="1">
            <a:off x="4714829" y="2978384"/>
            <a:ext cx="191110" cy="0"/>
          </a:xfrm>
          <a:prstGeom prst="line">
            <a:avLst/>
          </a:prstGeom>
          <a:noFill/>
          <a:ln w="15875">
            <a:solidFill>
              <a:srgbClr val="5D36FF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714829" y="2978384"/>
            <a:ext cx="0" cy="2178649"/>
          </a:xfrm>
          <a:prstGeom prst="line">
            <a:avLst/>
          </a:prstGeom>
          <a:noFill/>
          <a:ln w="15875">
            <a:solidFill>
              <a:srgbClr val="5D36FF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 flipH="1">
            <a:off x="2306848" y="5157033"/>
            <a:ext cx="2407981" cy="0"/>
          </a:xfrm>
          <a:prstGeom prst="line">
            <a:avLst/>
          </a:prstGeom>
          <a:noFill/>
          <a:ln w="15875">
            <a:solidFill>
              <a:srgbClr val="5D36FF"/>
            </a:solidFill>
            <a:prstDash val="dash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4634563" y="3968331"/>
            <a:ext cx="160532" cy="160532"/>
          </a:xfrm>
          <a:prstGeom prst="ellipse">
            <a:avLst/>
          </a:prstGeom>
          <a:solidFill>
            <a:srgbClr val="1D2D3E"/>
          </a:solidFill>
          <a:ln w="6350">
            <a:solidFill>
              <a:srgbClr val="1D2D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2612624" y="4965924"/>
            <a:ext cx="1834652" cy="11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login (proxied) · JWKS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670377" y="3207715"/>
            <a:ext cx="0" cy="420441"/>
          </a:xfrm>
          <a:prstGeom prst="line">
            <a:avLst/>
          </a:prstGeom>
          <a:noFill/>
          <a:ln w="15875">
            <a:solidFill>
              <a:srgbClr val="5D36FF"/>
            </a:solidFill>
            <a:prstDash val="dash"/>
            <a:headEnd type="triangle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6587703" y="3207715"/>
            <a:ext cx="0" cy="840882"/>
          </a:xfrm>
          <a:prstGeom prst="line">
            <a:avLst/>
          </a:prstGeom>
          <a:noFill/>
          <a:ln w="15875">
            <a:solidFill>
              <a:srgbClr val="5D36FF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587703" y="4048597"/>
            <a:ext cx="496885" cy="0"/>
          </a:xfrm>
          <a:prstGeom prst="line">
            <a:avLst/>
          </a:prstGeom>
          <a:noFill/>
          <a:ln w="15875">
            <a:solidFill>
              <a:srgbClr val="5D36FF"/>
            </a:solidFill>
            <a:prstDash val="dash"/>
            <a:tailEnd type="triangle"/>
          </a:ln>
        </p:spPr>
      </p:sp>
      <p:sp>
        <p:nvSpPr>
          <p:cNvPr id="53" name="Text 51"/>
          <p:cNvSpPr/>
          <p:nvPr/>
        </p:nvSpPr>
        <p:spPr>
          <a:xfrm>
            <a:off x="6507437" y="3509668"/>
            <a:ext cx="160532" cy="160532"/>
          </a:xfrm>
          <a:prstGeom prst="ellipse">
            <a:avLst/>
          </a:prstGeom>
          <a:solidFill>
            <a:srgbClr val="1D2D3E"/>
          </a:solidFill>
          <a:ln w="6350">
            <a:solidFill>
              <a:srgbClr val="1D2D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778813" y="3207715"/>
            <a:ext cx="0" cy="1414211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778813" y="4621926"/>
            <a:ext cx="305775" cy="0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6698547" y="4197663"/>
            <a:ext cx="160532" cy="160532"/>
          </a:xfrm>
          <a:prstGeom prst="ellipse">
            <a:avLst/>
          </a:prstGeom>
          <a:solidFill>
            <a:srgbClr val="1D2D3E"/>
          </a:solidFill>
          <a:ln w="6350">
            <a:solidFill>
              <a:srgbClr val="1D2D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6893479" y="1869948"/>
            <a:ext cx="2484425" cy="0"/>
          </a:xfrm>
          <a:prstGeom prst="line">
            <a:avLst/>
          </a:prstGeom>
          <a:noFill/>
          <a:ln w="15875">
            <a:solidFill>
              <a:srgbClr val="5D36FF"/>
            </a:solidFill>
            <a:prstDash val="dash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6893479" y="2710830"/>
            <a:ext cx="2484425" cy="0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8995684" y="2710830"/>
            <a:ext cx="0" cy="840882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995684" y="3551712"/>
            <a:ext cx="382219" cy="0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  <a:tailEnd type="triangle"/>
          </a:ln>
        </p:spPr>
      </p:sp>
      <p:sp>
        <p:nvSpPr>
          <p:cNvPr id="61" name="Text 59"/>
          <p:cNvSpPr/>
          <p:nvPr/>
        </p:nvSpPr>
        <p:spPr>
          <a:xfrm>
            <a:off x="7959870" y="1789682"/>
            <a:ext cx="160532" cy="160532"/>
          </a:xfrm>
          <a:prstGeom prst="ellipse">
            <a:avLst/>
          </a:prstGeom>
          <a:solidFill>
            <a:srgbClr val="1D2D3E"/>
          </a:solidFill>
          <a:ln w="6350">
            <a:solidFill>
              <a:srgbClr val="1D2D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7959870" y="2630564"/>
            <a:ext cx="160532" cy="160532"/>
          </a:xfrm>
          <a:prstGeom prst="ellipse">
            <a:avLst/>
          </a:prstGeom>
          <a:solidFill>
            <a:srgbClr val="1D2D3E"/>
          </a:solidFill>
          <a:ln w="6350">
            <a:solidFill>
              <a:srgbClr val="1D2D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6893479" y="1663550"/>
            <a:ext cx="2140428" cy="11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credentials · jwt-bearer · token exchange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7199254" y="2771985"/>
            <a:ext cx="1528877" cy="11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OData / REST calls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48640" y="6446520"/>
            <a:ext cx="292608" cy="155448"/>
          </a:xfrm>
          <a:prstGeom prst="roundRect">
            <a:avLst>
              <a:gd name="adj" fmla="val 23529"/>
            </a:avLst>
          </a:prstGeom>
          <a:solidFill>
            <a:srgbClr val="EBF8FF"/>
          </a:solidFill>
          <a:ln w="12700">
            <a:solidFill>
              <a:srgbClr val="0070F2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32688" y="641908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BTP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649578" y="6446520"/>
            <a:ext cx="292608" cy="155448"/>
          </a:xfrm>
          <a:prstGeom prst="roundRect">
            <a:avLst>
              <a:gd name="adj" fmla="val 23529"/>
            </a:avLst>
          </a:prstGeom>
          <a:solidFill>
            <a:srgbClr val="F5F6F7"/>
          </a:solidFill>
          <a:ln w="12700">
            <a:solidFill>
              <a:srgbClr val="475E75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2033626" y="641908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Non-SAP / customer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3374136" y="6524244"/>
            <a:ext cx="292608" cy="0"/>
          </a:xfrm>
          <a:prstGeom prst="line">
            <a:avLst/>
          </a:prstGeom>
          <a:noFill/>
          <a:ln w="15875">
            <a:solidFill>
              <a:srgbClr val="475E75"/>
            </a:solidFill>
            <a:prstDash val="solid"/>
            <a:tailEnd type="triangle"/>
          </a:ln>
        </p:spPr>
      </p:sp>
      <p:sp>
        <p:nvSpPr>
          <p:cNvPr id="70" name="Text 68"/>
          <p:cNvSpPr txBox="1"/>
          <p:nvPr/>
        </p:nvSpPr>
        <p:spPr>
          <a:xfrm>
            <a:off x="3758184" y="641908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call / data flow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212080" y="6524244"/>
            <a:ext cx="292608" cy="0"/>
          </a:xfrm>
          <a:prstGeom prst="line">
            <a:avLst/>
          </a:prstGeom>
          <a:noFill/>
          <a:ln w="15875">
            <a:solidFill>
              <a:srgbClr val="5D36FF"/>
            </a:solidFill>
            <a:prstDash val="dash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5596128" y="641908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/ token flow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7510882" y="6432804"/>
            <a:ext cx="182880" cy="182880"/>
          </a:xfrm>
          <a:prstGeom prst="ellipse">
            <a:avLst/>
          </a:prstGeom>
          <a:solidFill>
            <a:srgbClr val="1D2D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7830922" y="641908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step (see next slide)</a:t>
            </a:r>
            <a:endParaRPr lang="en-US" sz="900" dirty="0"/>
          </a:p>
        </p:txBody>
      </p:sp>
      <p:pic>
        <p:nvPicPr>
          <p:cNvPr id="76" name="Image 0" descr="MCP clien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260" y="1533595"/>
            <a:ext cx="198754" cy="198754"/>
          </a:xfrm>
          <a:prstGeom prst="rect">
            <a:avLst/>
          </a:prstGeom>
        </p:spPr>
      </p:pic>
      <p:pic>
        <p:nvPicPr>
          <p:cNvPr id="77" name="Image 1" descr="odata-mcp-proxy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671" y="1571817"/>
            <a:ext cx="198754" cy="198754"/>
          </a:xfrm>
          <a:prstGeom prst="rect">
            <a:avLst/>
          </a:prstGeom>
        </p:spPr>
      </p:pic>
      <p:pic>
        <p:nvPicPr>
          <p:cNvPr id="78" name="Image 2" descr="Reverse proxy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575" y="1686483"/>
            <a:ext cx="198754" cy="198754"/>
          </a:xfrm>
          <a:prstGeom prst="rect">
            <a:avLst/>
          </a:prstGeom>
        </p:spPr>
      </p:pic>
      <p:pic>
        <p:nvPicPr>
          <p:cNvPr id="79" name="Image 3" descr="Any OIDC IdP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260" y="4820680"/>
            <a:ext cx="198754" cy="198754"/>
          </a:xfrm>
          <a:prstGeom prst="rect">
            <a:avLst/>
          </a:prstGeom>
        </p:spPr>
      </p:pic>
      <p:pic>
        <p:nvPicPr>
          <p:cNvPr id="80" name="Image 4" descr="Secret stor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7671" y="3712245"/>
            <a:ext cx="198754" cy="198754"/>
          </a:xfrm>
          <a:prstGeom prst="rect">
            <a:avLst/>
          </a:prstGeom>
        </p:spPr>
      </p:pic>
      <p:pic>
        <p:nvPicPr>
          <p:cNvPr id="81" name="Image 5" descr="SAP S/4HANA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6321" y="3788688"/>
            <a:ext cx="198754" cy="198754"/>
          </a:xfrm>
          <a:prstGeom prst="rect">
            <a:avLst/>
          </a:prstGeom>
        </p:spPr>
      </p:pic>
      <p:pic>
        <p:nvPicPr>
          <p:cNvPr id="82" name="Image 6" descr="XSUAA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9636" y="1778215"/>
            <a:ext cx="198754" cy="198754"/>
          </a:xfrm>
          <a:prstGeom prst="rect">
            <a:avLst/>
          </a:prstGeom>
        </p:spPr>
      </p:pic>
      <p:pic>
        <p:nvPicPr>
          <p:cNvPr id="83" name="Image 7" descr="SAP Integration Suit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69636" y="2527365"/>
            <a:ext cx="198754" cy="198754"/>
          </a:xfrm>
          <a:prstGeom prst="rect">
            <a:avLst/>
          </a:prstGeom>
        </p:spPr>
      </p:pic>
      <p:pic>
        <p:nvPicPr>
          <p:cNvPr id="84" name="Image 8" descr="BTP Core Services APIs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9636" y="3352958"/>
            <a:ext cx="198754" cy="1987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 — how a request flows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steps match the diagram on the previous slide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394960" cy="109728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9525">
            <a:solidFill>
              <a:srgbClr val="E1E6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08760"/>
            <a:ext cx="420624" cy="420624"/>
          </a:xfrm>
          <a:prstGeom prst="ellipse">
            <a:avLst/>
          </a:prstGeom>
          <a:solidFill>
            <a:srgbClr val="1D2D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990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request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0992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 reach the Node.js server through a reverse proxy that terminates TLS. /mcp requires a bearer token.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32888"/>
            <a:ext cx="5394960" cy="109728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9525">
            <a:solidFill>
              <a:srgbClr val="E1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07208"/>
            <a:ext cx="420624" cy="420624"/>
          </a:xfrm>
          <a:prstGeom prst="ellipse">
            <a:avLst/>
          </a:prstGeom>
          <a:solidFill>
            <a:srgbClr val="1D2D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6974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sign-on with any OIDC IdP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00837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/oauth/* proxies the login to Entra ID, Okta, Keycloak, SAP IAS, … Tokens are verified against the IdP's JWKS.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831336"/>
            <a:ext cx="5394960" cy="109728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9525">
            <a:solidFill>
              <a:srgbClr val="E1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105656"/>
            <a:ext cx="420624" cy="420624"/>
          </a:xfrm>
          <a:prstGeom prst="ellipse">
            <a:avLst/>
          </a:prstGeom>
          <a:solidFill>
            <a:srgbClr val="1D2D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9959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SAML bearer to SAP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306824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proxy signs a SAML assertion for the user (NameID from a token claim) and exchanges it at SAP's OAuth server.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45352" y="1234440"/>
            <a:ext cx="5394960" cy="109728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9525">
            <a:solidFill>
              <a:srgbClr val="E1E6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73952" y="1508760"/>
            <a:ext cx="420624" cy="420624"/>
          </a:xfrm>
          <a:prstGeom prst="ellipse">
            <a:avLst/>
          </a:prstGeom>
          <a:solidFill>
            <a:srgbClr val="1D2D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114032" y="13990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OData as the business user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170992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S/4HANA / ABAP call carries the user's SAP token, so SAP authorizations apply per user.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45352" y="2532888"/>
            <a:ext cx="5394960" cy="109728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9525">
            <a:solidFill>
              <a:srgbClr val="E1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73952" y="2807208"/>
            <a:ext cx="420624" cy="420624"/>
          </a:xfrm>
          <a:prstGeom prst="ellipse">
            <a:avLst/>
          </a:prstGeom>
          <a:solidFill>
            <a:srgbClr val="1D2D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14032" y="26974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for BTP services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300837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 targets get a token from XSUAA: client credentials (technical user), jwt-bearer or token exchange.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45352" y="3831336"/>
            <a:ext cx="5394960" cy="109728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9525">
            <a:solidFill>
              <a:srgbClr val="E1E6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4105656"/>
            <a:ext cx="420624" cy="420624"/>
          </a:xfrm>
          <a:prstGeom prst="ellipse">
            <a:avLst/>
          </a:prstGeom>
          <a:solidFill>
            <a:srgbClr val="1D2D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14032" y="39959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APIs over the internet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14032" y="4306824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Integration and BTP Core Services APIs are called directly; no BTP runtime or Cloud Connector needed.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5175504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EBF8FF"/>
          </a:solidFill>
          <a:ln w="9525">
            <a:solidFill>
              <a:srgbClr val="0070F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5175504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0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 closed:  </a:t>
            </a:r>
            <a:pPr indent="0" marL="0">
              <a:buNone/>
            </a:pPr>
            <a:r>
              <a:rPr lang="en-US" sz="1100" dirty="0">
                <a:solidFill>
                  <a:srgbClr val="1D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per-user destinations never fall back to the technical user, and backend tokens are cached per user, never shared.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OData MCP Proxy — Architecture</dc:title>
  <dc:subject>PptxGenJS Presentation</dc:subject>
  <dc:creator>OData MCP Proxy</dc:creator>
  <cp:lastModifiedBy>OData MCP Proxy</cp:lastModifiedBy>
  <cp:revision>1</cp:revision>
  <dcterms:created xsi:type="dcterms:W3CDTF">2026-10-01T07:01:45Z</dcterms:created>
  <dcterms:modified xsi:type="dcterms:W3CDTF">2026-10-01T07:01:45Z</dcterms:modified>
</cp:coreProperties>
</file>